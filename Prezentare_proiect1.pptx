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8"/>
  </p:notesMasterIdLst>
  <p:sldIdLst>
    <p:sldId id="256" r:id="rId2"/>
    <p:sldId id="257" r:id="rId3"/>
    <p:sldId id="347" r:id="rId4"/>
    <p:sldId id="348" r:id="rId5"/>
    <p:sldId id="349" r:id="rId6"/>
    <p:sldId id="350" r:id="rId7"/>
  </p:sldIdLst>
  <p:sldSz cx="9144000" cy="5143500" type="screen16x9"/>
  <p:notesSz cx="6858000" cy="9144000"/>
  <p:embeddedFontLst>
    <p:embeddedFont>
      <p:font typeface="Vidaloka" panose="020B0604020202020204" charset="0"/>
      <p:regular r:id="rId9"/>
    </p:embeddedFont>
    <p:embeddedFont>
      <p:font typeface="Montserrat" panose="020B0604020202020204" charset="-18"/>
      <p:regular r:id="rId10"/>
      <p:bold r:id="rId11"/>
      <p:italic r:id="rId12"/>
      <p:boldItalic r:id="rId13"/>
    </p:embeddedFont>
    <p:embeddedFont>
      <p:font typeface="Lato" panose="020B0604020202020204" charset="-18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C8AFF0-5B44-4223-8E7E-9C8F97FDE8A2}">
  <a:tblStyle styleId="{A1C8AFF0-5B44-4223-8E7E-9C8F97FDE8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3" autoAdjust="0"/>
    <p:restoredTop sz="94660"/>
  </p:normalViewPr>
  <p:slideViewPr>
    <p:cSldViewPr snapToGrid="0">
      <p:cViewPr>
        <p:scale>
          <a:sx n="100" d="100"/>
          <a:sy n="100" d="100"/>
        </p:scale>
        <p:origin x="11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c7554a049_0_3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c7554a049_0_3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5" r:id="rId3"/>
    <p:sldLayoutId id="2147483658" r:id="rId4"/>
    <p:sldLayoutId id="2147483697" r:id="rId5"/>
    <p:sldLayoutId id="2147483698" r:id="rId6"/>
    <p:sldLayoutId id="2147483699" r:id="rId7"/>
    <p:sldLayoutId id="214748370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0"/>
          <p:cNvSpPr txBox="1">
            <a:spLocks noGrp="1"/>
          </p:cNvSpPr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800" dirty="0"/>
              <a:t>Atac diferențial de putere (DPA) cu filtrare prin SVD</a:t>
            </a:r>
            <a:endParaRPr sz="4800" dirty="0"/>
          </a:p>
        </p:txBody>
      </p:sp>
      <p:sp>
        <p:nvSpPr>
          <p:cNvPr id="489" name="Google Shape;489;p60"/>
          <p:cNvSpPr txBox="1">
            <a:spLocks noGrp="1"/>
          </p:cNvSpPr>
          <p:nvPr>
            <p:ph type="subTitle" idx="1"/>
          </p:nvPr>
        </p:nvSpPr>
        <p:spPr>
          <a:xfrm>
            <a:off x="1040000" y="3377100"/>
            <a:ext cx="1403480" cy="11593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1200" dirty="0" err="1">
                <a:solidFill>
                  <a:schemeClr val="dk1"/>
                </a:solidFill>
              </a:rPr>
              <a:t>Tatomir</a:t>
            </a:r>
            <a:r>
              <a:rPr lang="ro-RO" sz="1200" dirty="0">
                <a:solidFill>
                  <a:schemeClr val="dk1"/>
                </a:solidFill>
              </a:rPr>
              <a:t> Darius</a:t>
            </a:r>
          </a:p>
          <a:p>
            <a:pPr marL="0" indent="0" algn="l">
              <a:buClr>
                <a:schemeClr val="dk1"/>
              </a:buClr>
              <a:buSzPts val="1100"/>
            </a:pPr>
            <a:r>
              <a:rPr lang="ro-RO" sz="1200" dirty="0" err="1">
                <a:solidFill>
                  <a:schemeClr val="dk1"/>
                </a:solidFill>
              </a:rPr>
              <a:t>Chelu</a:t>
            </a:r>
            <a:r>
              <a:rPr lang="ro-RO" sz="1200" dirty="0">
                <a:solidFill>
                  <a:schemeClr val="dk1"/>
                </a:solidFill>
              </a:rPr>
              <a:t> Radu</a:t>
            </a:r>
            <a:br>
              <a:rPr lang="ro-RO" sz="1200" dirty="0">
                <a:solidFill>
                  <a:schemeClr val="dk1"/>
                </a:solidFill>
              </a:rPr>
            </a:br>
            <a:r>
              <a:rPr lang="ro-RO" sz="1200" dirty="0" err="1">
                <a:solidFill>
                  <a:schemeClr val="dk1"/>
                </a:solidFill>
              </a:rPr>
              <a:t>Pădeanu</a:t>
            </a:r>
            <a:r>
              <a:rPr lang="ro-RO" sz="1200" dirty="0">
                <a:solidFill>
                  <a:schemeClr val="dk1"/>
                </a:solidFill>
              </a:rPr>
              <a:t> Vlad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1200" dirty="0">
                <a:solidFill>
                  <a:schemeClr val="dk1"/>
                </a:solidFill>
              </a:rPr>
              <a:t>CTI – 2026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713224" y="445025"/>
            <a:ext cx="779577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latin typeface="+mj-lt"/>
              </a:rPr>
              <a:t>Clarificarea conceptelor :</a:t>
            </a:r>
            <a:endParaRPr dirty="0">
              <a:latin typeface="+mj-lt"/>
            </a:endParaRPr>
          </a:p>
        </p:txBody>
      </p:sp>
      <p:sp>
        <p:nvSpPr>
          <p:cNvPr id="495" name="Google Shape;495;p61"/>
          <p:cNvSpPr txBox="1">
            <a:spLocks noGrp="1"/>
          </p:cNvSpPr>
          <p:nvPr>
            <p:ph type="body" idx="1"/>
          </p:nvPr>
        </p:nvSpPr>
        <p:spPr>
          <a:xfrm>
            <a:off x="342900" y="1262765"/>
            <a:ext cx="8701088" cy="19471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1600" dirty="0"/>
              <a:t> </a:t>
            </a:r>
            <a:r>
              <a:rPr lang="ro-RO" sz="2400" dirty="0"/>
              <a:t>- AES (</a:t>
            </a:r>
            <a:r>
              <a:rPr lang="ro-RO" sz="2400" dirty="0" err="1"/>
              <a:t>Advanced</a:t>
            </a:r>
            <a:r>
              <a:rPr lang="ro-RO" sz="2400" dirty="0"/>
              <a:t> </a:t>
            </a:r>
            <a:r>
              <a:rPr lang="ro-RO" sz="2400" dirty="0" err="1"/>
              <a:t>Encryption</a:t>
            </a:r>
            <a:r>
              <a:rPr lang="ro-RO" sz="2400" dirty="0"/>
              <a:t> Standard) pe 128 de biți</a:t>
            </a:r>
            <a:endParaRPr lang="en-US" sz="2400" dirty="0"/>
          </a:p>
          <a:p>
            <a:pPr marL="0" indent="0">
              <a:buSzPts val="1100"/>
              <a:buNone/>
            </a:pPr>
            <a:r>
              <a:rPr lang="en-US" sz="2400" dirty="0"/>
              <a:t> </a:t>
            </a:r>
            <a:r>
              <a:rPr lang="ro-RO" sz="2400" dirty="0"/>
              <a:t>- DPA – problema sistemelor complexe</a:t>
            </a:r>
          </a:p>
          <a:p>
            <a:pPr marL="0" indent="0">
              <a:buSzPts val="1100"/>
              <a:buNone/>
            </a:pPr>
            <a:r>
              <a:rPr lang="ro-RO" sz="2400" dirty="0"/>
              <a:t> - ASCAD – procesarea unei baze de date de 7.2gb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o-RO" sz="2400" dirty="0"/>
              <a:t> - CPA (</a:t>
            </a:r>
            <a:r>
              <a:rPr lang="ro-RO" sz="2400" dirty="0" err="1"/>
              <a:t>Correlation</a:t>
            </a:r>
            <a:r>
              <a:rPr lang="ro-RO" sz="2400" dirty="0"/>
              <a:t> Power </a:t>
            </a:r>
            <a:r>
              <a:rPr lang="ro-RO" sz="2400" dirty="0" err="1"/>
              <a:t>Analysis</a:t>
            </a:r>
            <a:r>
              <a:rPr lang="ro-RO" sz="2400" dirty="0"/>
              <a:t>) și modelul de consum</a:t>
            </a:r>
          </a:p>
        </p:txBody>
      </p:sp>
      <p:sp>
        <p:nvSpPr>
          <p:cNvPr id="4" name="Google Shape;494;p61">
            <a:extLst>
              <a:ext uri="{FF2B5EF4-FFF2-40B4-BE49-F238E27FC236}">
                <a16:creationId xmlns:a16="http://schemas.microsoft.com/office/drawing/2014/main" id="{C1C9E0C5-F624-4430-81BE-C8294654019D}"/>
              </a:ext>
            </a:extLst>
          </p:cNvPr>
          <p:cNvSpPr txBox="1">
            <a:spLocks/>
          </p:cNvSpPr>
          <p:nvPr/>
        </p:nvSpPr>
        <p:spPr>
          <a:xfrm>
            <a:off x="713223" y="3454965"/>
            <a:ext cx="779577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 b="0" i="0" u="none" strike="noStrike" cap="none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o-RO" dirty="0" err="1">
                <a:latin typeface="+mj-lt"/>
              </a:rPr>
              <a:t>Overview</a:t>
            </a:r>
            <a:r>
              <a:rPr lang="ro-RO" dirty="0">
                <a:latin typeface="+mj-lt"/>
              </a:rPr>
              <a:t> : ascad_handler.py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ES (Advanced Encryption Standard): Step-by-Step In-Depth ...">
            <a:extLst>
              <a:ext uri="{FF2B5EF4-FFF2-40B4-BE49-F238E27FC236}">
                <a16:creationId xmlns:a16="http://schemas.microsoft.com/office/drawing/2014/main" id="{59107C0E-2A81-43B8-81F4-2CCCF68C1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50" y="95554"/>
            <a:ext cx="8959100" cy="4952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Advanced Encryption Standard (AES) - GeeksforGeeks">
            <a:extLst>
              <a:ext uri="{FF2B5EF4-FFF2-40B4-BE49-F238E27FC236}">
                <a16:creationId xmlns:a16="http://schemas.microsoft.com/office/drawing/2014/main" id="{AD049756-73E4-4448-9E5C-A23FA26C02F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0E655860-5C8E-4F42-BE8B-B4D99C9E9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11" y="1718207"/>
            <a:ext cx="3060881" cy="1736544"/>
          </a:xfrm>
          <a:prstGeom prst="rect">
            <a:avLst/>
          </a:prstGeom>
        </p:spPr>
      </p:pic>
      <p:sp>
        <p:nvSpPr>
          <p:cNvPr id="6" name="Săgeată: dreapta 5">
            <a:extLst>
              <a:ext uri="{FF2B5EF4-FFF2-40B4-BE49-F238E27FC236}">
                <a16:creationId xmlns:a16="http://schemas.microsoft.com/office/drawing/2014/main" id="{B10E4421-DE61-4D99-B495-A721C1A0B08C}"/>
              </a:ext>
            </a:extLst>
          </p:cNvPr>
          <p:cNvSpPr/>
          <p:nvPr/>
        </p:nvSpPr>
        <p:spPr>
          <a:xfrm>
            <a:off x="1472665" y="962526"/>
            <a:ext cx="2122371" cy="231007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618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ine 1">
            <a:extLst>
              <a:ext uri="{FF2B5EF4-FFF2-40B4-BE49-F238E27FC236}">
                <a16:creationId xmlns:a16="http://schemas.microsoft.com/office/drawing/2014/main" id="{001F559E-BC9A-4721-A257-B29131F2A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107" y="532009"/>
            <a:ext cx="7109785" cy="407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374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EAC3975-E5E0-4DEC-9EF5-FCAA9AD5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256" y="445025"/>
            <a:ext cx="5264469" cy="572700"/>
          </a:xfrm>
        </p:spPr>
        <p:txBody>
          <a:bodyPr/>
          <a:lstStyle/>
          <a:p>
            <a:r>
              <a:rPr lang="ro-RO" sz="2000" dirty="0"/>
              <a:t>Modelul de consum și  Corelațiile </a:t>
            </a:r>
            <a:r>
              <a:rPr lang="ro-RO" sz="2000" dirty="0" err="1"/>
              <a:t>Pearson</a:t>
            </a:r>
            <a:r>
              <a:rPr lang="ro-RO" sz="2000" dirty="0"/>
              <a:t>: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9DCBC2DC-5AB7-4B69-930A-81FB7F757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0256" y="829559"/>
            <a:ext cx="8270494" cy="3739166"/>
          </a:xfrm>
        </p:spPr>
        <p:txBody>
          <a:bodyPr/>
          <a:lstStyle/>
          <a:p>
            <a:pPr marL="114300" indent="0">
              <a:buNone/>
            </a:pPr>
            <a:r>
              <a:rPr lang="ro-RO" sz="1200" dirty="0"/>
              <a:t> - Puterea consumată pentru transpunerea unui octet folosind SBOX-</a:t>
            </a:r>
            <a:r>
              <a:rPr lang="ro-RO" sz="1200" dirty="0" err="1"/>
              <a:t>ul</a:t>
            </a:r>
            <a:r>
              <a:rPr lang="ro-RO" sz="1200" dirty="0"/>
              <a:t> depinde în totalitate de </a:t>
            </a:r>
            <a:r>
              <a:rPr lang="ro-RO" sz="1200" b="1" i="1" dirty="0"/>
              <a:t>Greutatea </a:t>
            </a:r>
            <a:r>
              <a:rPr lang="ro-RO" sz="1200" b="1" i="1" dirty="0" err="1"/>
              <a:t>Hamming</a:t>
            </a:r>
            <a:r>
              <a:rPr lang="ro-RO" sz="1200" b="1" i="1" dirty="0"/>
              <a:t> </a:t>
            </a:r>
            <a:r>
              <a:rPr lang="ro-RO" sz="1200" dirty="0"/>
              <a:t>a octetului. </a:t>
            </a:r>
          </a:p>
          <a:p>
            <a:endParaRPr lang="ro-RO" sz="1200" dirty="0"/>
          </a:p>
          <a:p>
            <a:endParaRPr lang="ro-RO" sz="1200" dirty="0"/>
          </a:p>
          <a:p>
            <a:endParaRPr lang="ro-RO" sz="1200" dirty="0"/>
          </a:p>
          <a:p>
            <a:endParaRPr lang="ro-RO" sz="1200" dirty="0"/>
          </a:p>
          <a:p>
            <a:pPr marL="114300" indent="0">
              <a:buNone/>
            </a:pPr>
            <a:r>
              <a:rPr lang="ro-RO" sz="1200" dirty="0"/>
              <a:t>      </a:t>
            </a:r>
            <a:r>
              <a:rPr lang="en-US" sz="1200" dirty="0"/>
              <a:t>  </a:t>
            </a:r>
            <a:r>
              <a:rPr lang="ro-RO" sz="1200" dirty="0"/>
              <a:t>Valoarea           rezultată este un număr între 0 și 8 care reprezintă cât curent ar trebui să fi consumat </a:t>
            </a:r>
            <a:r>
              <a:rPr lang="ro-RO" sz="1200" dirty="0" err="1"/>
              <a:t>microcontrollerul</a:t>
            </a:r>
            <a:r>
              <a:rPr lang="ro-RO" sz="1200" dirty="0"/>
              <a:t> ATmega8515 la acea execuție, dacă cheia ar fi fost      .</a:t>
            </a:r>
          </a:p>
          <a:p>
            <a:pPr marL="114300" indent="0">
              <a:buNone/>
            </a:pPr>
            <a:endParaRPr lang="ro-RO" sz="1200" dirty="0"/>
          </a:p>
          <a:p>
            <a:pPr>
              <a:buFontTx/>
              <a:buChar char="-"/>
            </a:pPr>
            <a:r>
              <a:rPr lang="ro-RO" sz="1200" dirty="0"/>
              <a:t>Formula pentru coeficientul de corelație </a:t>
            </a:r>
            <a:r>
              <a:rPr lang="ro-RO" sz="1200" dirty="0" err="1"/>
              <a:t>Pearson</a:t>
            </a:r>
            <a:r>
              <a:rPr lang="ro-RO" sz="1200" dirty="0"/>
              <a:t> este următoarea : </a:t>
            </a:r>
          </a:p>
          <a:p>
            <a:pPr>
              <a:buFontTx/>
              <a:buChar char="-"/>
            </a:pPr>
            <a:endParaRPr lang="ro-RO" sz="1200" dirty="0"/>
          </a:p>
          <a:p>
            <a:pPr marL="114300" indent="0">
              <a:buNone/>
            </a:pPr>
            <a:endParaRPr lang="ro-RO" sz="1200" dirty="0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id="{AC2BC1F2-334B-48E3-8C46-645DAE24964E}"/>
              </a:ext>
            </a:extLst>
          </p:cNvPr>
          <p:cNvSpPr txBox="1"/>
          <p:nvPr/>
        </p:nvSpPr>
        <p:spPr>
          <a:xfrm>
            <a:off x="4495978" y="1513537"/>
            <a:ext cx="1462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;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E0B2FEF8-383A-4ABC-BC49-6FD9FF55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6396" y="1376448"/>
            <a:ext cx="2529927" cy="628573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2FEC89CC-0DC4-42FA-B4A6-8D026454AEC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92716" y="1339369"/>
            <a:ext cx="2857266" cy="702733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F9B82C41-F05C-4368-B07C-9B4E5B837A8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09780" y="1845127"/>
            <a:ext cx="547897" cy="471248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C96B7015-C7E9-40B1-A774-25ABD682B408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71584" y="2206273"/>
            <a:ext cx="118716" cy="171759"/>
          </a:xfrm>
          <a:prstGeom prst="rect">
            <a:avLst/>
          </a:prstGeom>
        </p:spPr>
      </p:pic>
      <p:pic>
        <p:nvPicPr>
          <p:cNvPr id="12" name="Imagine 11">
            <a:extLst>
              <a:ext uri="{FF2B5EF4-FFF2-40B4-BE49-F238E27FC236}">
                <a16:creationId xmlns:a16="http://schemas.microsoft.com/office/drawing/2014/main" id="{A4EFB109-AD4E-4E34-8533-8205EEE94E7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0256" y="2911786"/>
            <a:ext cx="5688094" cy="1469947"/>
          </a:xfrm>
          <a:prstGeom prst="rect">
            <a:avLst/>
          </a:prstGeom>
        </p:spPr>
      </p:pic>
      <p:sp>
        <p:nvSpPr>
          <p:cNvPr id="13" name="CasetăText 12">
            <a:extLst>
              <a:ext uri="{FF2B5EF4-FFF2-40B4-BE49-F238E27FC236}">
                <a16:creationId xmlns:a16="http://schemas.microsoft.com/office/drawing/2014/main" id="{410AB48A-B2FF-4F58-B65B-112887F8AB0F}"/>
              </a:ext>
            </a:extLst>
          </p:cNvPr>
          <p:cNvSpPr txBox="1"/>
          <p:nvPr/>
        </p:nvSpPr>
        <p:spPr>
          <a:xfrm>
            <a:off x="5653088" y="2776538"/>
            <a:ext cx="338137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100" dirty="0"/>
              <a:t>	= scor de corelație</a:t>
            </a:r>
          </a:p>
          <a:p>
            <a:endParaRPr lang="ro-RO" sz="1100" dirty="0"/>
          </a:p>
          <a:p>
            <a:r>
              <a:rPr lang="ro-RO" sz="1100" dirty="0"/>
              <a:t>	= media matricei H pe coloane</a:t>
            </a:r>
          </a:p>
          <a:p>
            <a:endParaRPr lang="ro-RO" sz="1100" dirty="0"/>
          </a:p>
          <a:p>
            <a:r>
              <a:rPr lang="ro-RO" sz="1100" dirty="0"/>
              <a:t>	= consumul de putere real </a:t>
            </a:r>
          </a:p>
          <a:p>
            <a:r>
              <a:rPr lang="ro-RO" sz="1100" dirty="0"/>
              <a:t>	   măsurat la momentul t pe urma i</a:t>
            </a:r>
          </a:p>
          <a:p>
            <a:endParaRPr lang="ro-RO" sz="1100" dirty="0"/>
          </a:p>
          <a:p>
            <a:r>
              <a:rPr lang="ro-RO" sz="1100" dirty="0"/>
              <a:t>	= media reală a urmelor</a:t>
            </a:r>
          </a:p>
        </p:txBody>
      </p:sp>
      <p:pic>
        <p:nvPicPr>
          <p:cNvPr id="15" name="Imagine 14">
            <a:extLst>
              <a:ext uri="{FF2B5EF4-FFF2-40B4-BE49-F238E27FC236}">
                <a16:creationId xmlns:a16="http://schemas.microsoft.com/office/drawing/2014/main" id="{BA4D2C16-BE26-4749-81DA-4E37453A92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0982" y="2753998"/>
            <a:ext cx="559960" cy="315575"/>
          </a:xfrm>
          <a:prstGeom prst="rect">
            <a:avLst/>
          </a:prstGeom>
        </p:spPr>
      </p:pic>
      <p:pic>
        <p:nvPicPr>
          <p:cNvPr id="16" name="Imagine 15">
            <a:extLst>
              <a:ext uri="{FF2B5EF4-FFF2-40B4-BE49-F238E27FC236}">
                <a16:creationId xmlns:a16="http://schemas.microsoft.com/office/drawing/2014/main" id="{F4DFDA83-47BE-42B4-A207-A2F663D2FA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6244" y="3069573"/>
            <a:ext cx="324492" cy="325980"/>
          </a:xfrm>
          <a:prstGeom prst="rect">
            <a:avLst/>
          </a:prstGeom>
        </p:spPr>
      </p:pic>
      <p:pic>
        <p:nvPicPr>
          <p:cNvPr id="17" name="Imagine 16">
            <a:extLst>
              <a:ext uri="{FF2B5EF4-FFF2-40B4-BE49-F238E27FC236}">
                <a16:creationId xmlns:a16="http://schemas.microsoft.com/office/drawing/2014/main" id="{C37FD017-EF47-41D1-8F2A-71E76B849B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0715" y="3445539"/>
            <a:ext cx="810227" cy="315575"/>
          </a:xfrm>
          <a:prstGeom prst="rect">
            <a:avLst/>
          </a:prstGeom>
        </p:spPr>
      </p:pic>
      <p:pic>
        <p:nvPicPr>
          <p:cNvPr id="4" name="Imagine 3">
            <a:extLst>
              <a:ext uri="{FF2B5EF4-FFF2-40B4-BE49-F238E27FC236}">
                <a16:creationId xmlns:a16="http://schemas.microsoft.com/office/drawing/2014/main" id="{B090C1A1-DF3B-4471-9BFA-BCC524E89B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1359" y="3894069"/>
            <a:ext cx="571096" cy="34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073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7181FB6-B6C1-42EB-8C13-26F06A065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038" y="371475"/>
            <a:ext cx="8634412" cy="4197250"/>
          </a:xfrm>
        </p:spPr>
        <p:txBody>
          <a:bodyPr/>
          <a:lstStyle/>
          <a:p>
            <a:r>
              <a:rPr lang="ro-RO" dirty="0"/>
              <a:t>Numărătorul face următoarele verificări : </a:t>
            </a:r>
          </a:p>
          <a:p>
            <a:endParaRPr lang="ro-RO" dirty="0"/>
          </a:p>
          <a:p>
            <a:pPr lvl="2"/>
            <a:r>
              <a:rPr lang="ro-RO" sz="1100" dirty="0"/>
              <a:t>Înmulțește abaterea teoretică cu cea reală</a:t>
            </a:r>
          </a:p>
          <a:p>
            <a:pPr lvl="3"/>
            <a:r>
              <a:rPr lang="ro-RO" sz="1100" dirty="0"/>
              <a:t>Verificăm dacă urma i are un consum peste medie (+) sau sub medie (-).</a:t>
            </a:r>
          </a:p>
          <a:p>
            <a:pPr lvl="3"/>
            <a:r>
              <a:rPr lang="ro-RO" sz="1100" dirty="0"/>
              <a:t>Dacă și procesul real consumă multă putere, înmulțirea lor determină un număr pozitiv. </a:t>
            </a:r>
          </a:p>
          <a:p>
            <a:pPr lvl="3"/>
            <a:r>
              <a:rPr lang="ro-RO" sz="1100" dirty="0"/>
              <a:t>Suma produselor semnalelor, dacă e pozitivă, este o valoare uriașă. Semnalul iese din zgomot</a:t>
            </a:r>
          </a:p>
          <a:p>
            <a:r>
              <a:rPr lang="ro-RO" dirty="0"/>
              <a:t>Numitorul reprezintă normalizarea :</a:t>
            </a:r>
          </a:p>
          <a:p>
            <a:endParaRPr lang="ro-RO" dirty="0"/>
          </a:p>
          <a:p>
            <a:pPr lvl="2"/>
            <a:r>
              <a:rPr lang="ro-RO" sz="1100" dirty="0"/>
              <a:t>În lipsa acestei împărțiri suma crește liniar către numere extrem de mari, direct proporțional cu numărul de urme pe care îl adăugăm.  </a:t>
            </a:r>
          </a:p>
          <a:p>
            <a:pPr lvl="2"/>
            <a:r>
              <a:rPr lang="ro-RO" sz="1100" dirty="0"/>
              <a:t>Indiferent câte urme avem, rezultatul final se află în intervalul [-1,1]</a:t>
            </a:r>
          </a:p>
          <a:p>
            <a:pPr marL="1054100" lvl="2" indent="0">
              <a:buNone/>
            </a:pPr>
            <a:endParaRPr lang="ro-RO" sz="1100" dirty="0"/>
          </a:p>
          <a:p>
            <a:r>
              <a:rPr lang="ro-RO" dirty="0"/>
              <a:t>Pentru a selecta cheia reală avem : </a:t>
            </a:r>
          </a:p>
          <a:p>
            <a:pPr marL="114300" indent="0">
              <a:buNone/>
            </a:pPr>
            <a:endParaRPr lang="ro-RO" dirty="0"/>
          </a:p>
          <a:p>
            <a:pPr marL="114300" indent="0">
              <a:buNone/>
            </a:pPr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id="{98A91031-A0CA-4F8D-B279-F4F6F74F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2030" y="3543218"/>
            <a:ext cx="3111714" cy="671594"/>
          </a:xfrm>
          <a:prstGeom prst="rect">
            <a:avLst/>
          </a:prstGeom>
        </p:spPr>
      </p:pic>
      <p:sp>
        <p:nvSpPr>
          <p:cNvPr id="7" name="CasetăText 6">
            <a:extLst>
              <a:ext uri="{FF2B5EF4-FFF2-40B4-BE49-F238E27FC236}">
                <a16:creationId xmlns:a16="http://schemas.microsoft.com/office/drawing/2014/main" id="{773B4CC2-DC6D-4261-A15F-E6D97F4AFC7C}"/>
              </a:ext>
            </a:extLst>
          </p:cNvPr>
          <p:cNvSpPr txBox="1"/>
          <p:nvPr/>
        </p:nvSpPr>
        <p:spPr>
          <a:xfrm>
            <a:off x="4895850" y="3186113"/>
            <a:ext cx="3760470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100" dirty="0"/>
              <a:t>	= </a:t>
            </a:r>
            <a:r>
              <a:rPr lang="ro-RO" sz="1200" dirty="0"/>
              <a:t>cheia reală pentru octetul evaluat </a:t>
            </a:r>
          </a:p>
          <a:p>
            <a:r>
              <a:rPr lang="ro-RO" sz="1200" dirty="0"/>
              <a:t>	</a:t>
            </a:r>
            <a:r>
              <a:rPr lang="ro-RO" sz="1100" dirty="0"/>
              <a:t>= modulul rezultatului corelației (-0.90V 	   este considerat un marcator bun)</a:t>
            </a:r>
          </a:p>
          <a:p>
            <a:r>
              <a:rPr lang="ro-RO" sz="1100" dirty="0"/>
              <a:t>	= dintre toate rezultatele reținem 256 cele 	   mai promițătoare (valori mari)</a:t>
            </a:r>
          </a:p>
          <a:p>
            <a:r>
              <a:rPr lang="ro-RO" sz="1100" dirty="0"/>
              <a:t>	= returnează argumentul care a generat 	   scorul maxim (ex: 0.98 pentru 0x2B)</a:t>
            </a:r>
            <a:endParaRPr lang="ro-RO" dirty="0"/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8AD21D8F-5A5C-40C1-8375-AA10B4666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980" y="3186113"/>
            <a:ext cx="242332" cy="260973"/>
          </a:xfrm>
          <a:prstGeom prst="rect">
            <a:avLst/>
          </a:prstGeom>
        </p:spPr>
      </p:pic>
      <p:pic>
        <p:nvPicPr>
          <p:cNvPr id="9" name="Imagine 8">
            <a:extLst>
              <a:ext uri="{FF2B5EF4-FFF2-40B4-BE49-F238E27FC236}">
                <a16:creationId xmlns:a16="http://schemas.microsoft.com/office/drawing/2014/main" id="{BA4BD938-9E8D-4153-935D-3191435E0B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450" y="3416945"/>
            <a:ext cx="490414" cy="230833"/>
          </a:xfrm>
          <a:prstGeom prst="rect">
            <a:avLst/>
          </a:prstGeom>
        </p:spPr>
      </p:pic>
      <p:pic>
        <p:nvPicPr>
          <p:cNvPr id="10" name="Imagine 9">
            <a:extLst>
              <a:ext uri="{FF2B5EF4-FFF2-40B4-BE49-F238E27FC236}">
                <a16:creationId xmlns:a16="http://schemas.microsoft.com/office/drawing/2014/main" id="{B5578F01-B4F4-451C-BA70-EACB4C04C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801" y="3717549"/>
            <a:ext cx="420063" cy="322121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id="{A063C4C2-A050-4818-B1C8-FEF6D6D16D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1736" y="4120001"/>
            <a:ext cx="591128" cy="29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2172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240</Words>
  <Application>Microsoft Office PowerPoint</Application>
  <PresentationFormat>Expunere pe ecran (16:9)</PresentationFormat>
  <Paragraphs>46</Paragraphs>
  <Slides>6</Slides>
  <Notes>2</Notes>
  <HiddenSlides>0</HiddenSlides>
  <MMClips>0</MMClips>
  <ScaleCrop>false</ScaleCrop>
  <HeadingPairs>
    <vt:vector size="6" baseType="variant">
      <vt:variant>
        <vt:lpstr>Fonturi utilizate</vt:lpstr>
      </vt:variant>
      <vt:variant>
        <vt:i4>4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6</vt:i4>
      </vt:variant>
    </vt:vector>
  </HeadingPairs>
  <TitlesOfParts>
    <vt:vector size="11" baseType="lpstr">
      <vt:lpstr>Vidaloka</vt:lpstr>
      <vt:lpstr>Arial</vt:lpstr>
      <vt:lpstr>Montserrat</vt:lpstr>
      <vt:lpstr>Lato</vt:lpstr>
      <vt:lpstr>Minimalist Business Slides XL by Slidesgo</vt:lpstr>
      <vt:lpstr>Atac diferențial de putere (DPA) cu filtrare prin SVD</vt:lpstr>
      <vt:lpstr>Clarificarea conceptelor :</vt:lpstr>
      <vt:lpstr>Prezentare PowerPoint</vt:lpstr>
      <vt:lpstr>Prezentare PowerPoint</vt:lpstr>
      <vt:lpstr>Modelul de consum și  Corelațiile Pearson: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Atac diferențial de putere (DPA) cu filtrare prin SVD</dc:title>
  <dc:creator>Asus TUF</dc:creator>
  <cp:lastModifiedBy>VLAD FLORIN PĂDEANU</cp:lastModifiedBy>
  <cp:revision>27</cp:revision>
  <dcterms:modified xsi:type="dcterms:W3CDTF">2026-06-04T14:18:47Z</dcterms:modified>
</cp:coreProperties>
</file>